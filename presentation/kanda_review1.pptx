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41148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KANDA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BEAFE"/>
                </a:solidFill>
              </a:rPr>
              <a:t>A Multimodal Embodied Robot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BEAFE"/>
                </a:solidFill>
              </a:rPr>
              <a:t>Powered by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029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CA3AF"/>
                </a:solidFill>
              </a:rPr>
              <a:t>Review I  ·  Phase 2: Embodiment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Hardware-Aware Autonomous Control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6035040"/>
            <a:ext cx="13716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  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Review I  ·  Kanda Robot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167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47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Conceptual Understanding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0864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Revisiting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71216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07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Tool / Technique Selection &amp; Justification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381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Solution Design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684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Innovation &amp; Problem-Solving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62272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498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Partial Implementation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92624"/>
            <a:ext cx="502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292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What is Kanda?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</a:rPr>
              <a:t>Kanda is a hardware-grounded robotic agent designed to evolve from a rule-based autonomous controller into a fully LLM-driven embodied AI system — integrating physical sensing, motor control, and natural language reasoning.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394960" cy="3657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</a:rPr>
              <a:t>Problem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✗  Existing robots are purely 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535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✗  No integration of AI reasoning with physical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009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✗  Limited adaptability to novel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484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✗  Multimodal input (vision/audio) largely absent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5394960" cy="3657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212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✓  Embodied robot with full sense–decide–act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535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✓  LLM as reasoning brain (Raspberry Pi bridge)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0098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✓  Multimodal inputs: ultrasonic, camera, microphone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4845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✓  Hardware-aware action generation via structured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959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</a:rPr>
              <a:t>✓  Closed-loop feedback with real-time OLED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Conceptual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Embodied AI · Reactive vs Deliberative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566160" cy="5120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5661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Embodied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Intelligence that exists within a physical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Perception → Action loop is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Grounded in real-world sensor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Contrast: disembodied LLMs act on text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566160" cy="51206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5661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Reactive Agent
(Current)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1907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Responds directly to sensor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5915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No internal world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9923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Fast, deterministic, hardware-safe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Limited — cannot generalize to new tasks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234440"/>
            <a:ext cx="3566160" cy="51206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35661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Deliberative Agent
(Target)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1907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Builds context before acting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5915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Uses LLM for reasoning &amp; planning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9923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Can handle open-ended instructions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B2A4A"/>
                </a:solidFill>
              </a:rPr>
              <a:t>• Slower but far more capable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Revisiting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Original Goals vs Current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6400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143000"/>
            <a:ext cx="3291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143000"/>
            <a:ext cx="3291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Implementation 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0" y="1143000"/>
            <a:ext cx="16002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1521440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8191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636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Build a stable hardware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5636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Design stable power + sensor + motor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✅ 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9384"/>
            <a:ext cx="11521440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00253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842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Real-time obstacle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9842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3× HC-SR04 sensors with voltage dividers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200253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✅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50008"/>
            <a:ext cx="11521440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42316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404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Autonomous navigation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404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Sense→Decide→Act loop with smooth steering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4231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✅ 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70632"/>
            <a:ext cx="11521440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84378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8254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Real-time visual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8254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SSD1306 OLED showing distances +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84378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✅ Done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91256"/>
            <a:ext cx="11521440" cy="402336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26440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2461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Clean, conflict-free pin 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24612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Avoided strapping/UART/unstable GPIO 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32644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6A34A"/>
                </a:solidFill>
              </a:rPr>
              <a:t>✅ 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611879"/>
            <a:ext cx="1152144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3685031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36667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Integrate LLM reasoning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66674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Raspberry Pi bridge + LLM API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3685031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CA3AF"/>
                </a:solidFill>
              </a:rPr>
              <a:t>⏳ Planned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032504"/>
            <a:ext cx="1152144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10565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0873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Multimodal input (camera, mic)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08736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Camera + microphone module integration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4105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CA3AF"/>
                </a:solidFill>
              </a:rPr>
              <a:t>⏳ Planned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453128"/>
            <a:ext cx="1152144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5262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5079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Hardware-aware JSON action generation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5079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Structured command protocol: Pi → ESP32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45262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CA3AF"/>
                </a:solidFill>
              </a:rPr>
              <a:t>⏳ Planned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73752"/>
            <a:ext cx="11521440" cy="402336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9469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CA3AF"/>
                </a:solidFill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9286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Closed-loop LLM feedback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9286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Sensor telemetry fed back to LLM context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87000" y="49469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9CA3AF"/>
                </a:solidFill>
              </a:rPr>
              <a:t>⏳ 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Tool / Technique Selection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Hardware + Software stack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25880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ESP32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3533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Microcontroller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353312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Dual-core, built-in WiFi/BT, 3.3V, abundant GPIOs, ledc PWM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73936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1837943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TB6612FNG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865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Motor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86537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Efficient H-bridge, 1.2A/ch, STBY pin, direction + PWM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350008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HC-SR04 ×3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3392" y="23774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Ultrasonic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37744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Low cost, 2–400cm range; 1kΩ+1kΩ divider for 5V→2.5V ECHO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98064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862072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SSD1306 OLED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28895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889504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I2C (2 pins), 128×64, real-time decision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10128"/>
            <a:ext cx="11521440" cy="47548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374136"/>
            <a:ext cx="150876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Buck Converter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34015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Power Regulation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401568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Stable 5V for ESP32; motors run on direct battery to avoid surge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22191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3886200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Raspberry 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3913631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AI Compute 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913631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Full Linux OS, runs Python, calls LLM API, UART to ESP32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34256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4398264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GPT-4 / 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44256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LLM Reasoning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425696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Multimodal capability, function calling for structured JSON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46320"/>
            <a:ext cx="11521440" cy="475488"/>
          </a:xfrm>
          <a:prstGeom prst="rect">
            <a:avLst/>
          </a:prstGeom>
          <a:solidFill>
            <a:srgbClr val="F3F4F6"/>
          </a:solidFill>
          <a:ln w="762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4910328"/>
            <a:ext cx="150876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JSON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49377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Command 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4937760"/>
            <a:ext cx="7680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Type-safe, validatable, hardware-safe action specification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Design — High-Level Architecture (HLD)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Full system view: completed (green) · planned (gray)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1663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⚙️  Phase 2 — Embodiment Layer 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HC-SR04 (×3)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Front · Left · Right ultrasonic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194560"/>
            <a:ext cx="731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ESP32 DevKit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Central microcontroller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852928"/>
            <a:ext cx="731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80944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TB6612FNG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Dual motor driver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511296"/>
            <a:ext cx="731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39311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SSD1306 OLED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I2C real-time display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4169663"/>
            <a:ext cx="731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97679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LiPo + BMS + Buck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Stable power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4828031"/>
            <a:ext cx="731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956047"/>
            <a:ext cx="5212080" cy="502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Left + Right 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79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Physical locomotion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34440"/>
            <a:ext cx="5486400" cy="516636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🧠  Phase 3 — Intelligence Layer  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1664208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Camera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92024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Visual perception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322576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Microphone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5786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Audio / speech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980944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Raspberry 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3697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AI compute bridge (brain)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639311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LLM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953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GPT-4 / Gemini reasoning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297679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Safety Validator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553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Command verification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956047"/>
            <a:ext cx="5212080" cy="50292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 b="1">
                <a:solidFill>
                  <a:srgbClr val="FFFFFF"/>
                </a:solidFill>
              </a:rPr>
              <a:t>  Speaker (TTS)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212079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Audio output / feedback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749039"/>
            <a:ext cx="7315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Design — Low-Level Design (LLD)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Pin mapping · Power architecture · Signal conditioning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ESP32 Pin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9344"/>
            <a:ext cx="100584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609344"/>
            <a:ext cx="3931920" cy="274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93852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901952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93852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TRIG_F  (Front HC-SR04)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80844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21742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180844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1742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ECHO_F  [input-only, 2.5V divider]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59736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496312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459736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49631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TRIG_L  (Left HC-SR04)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38628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7520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738628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277520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ECHO_L  [input-only, 2.5V divider]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17520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05409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017520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305409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TRIG_R  (Right HC-SR04)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6412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33298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296412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333298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ECHO_R  [2.5V divider]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75304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61188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18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3575304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36118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AIN1 — Motor A dir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54196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890772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3854196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7320" y="389077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AIN2 — Motor A dir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33088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16966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4133088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416966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PWMA   — Motor A speed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11980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4485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4411980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17320" y="444855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BIN1 — Motor B dir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90872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4727448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27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4690872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7320" y="472744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BIN2 — Motor B dir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969764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006340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4969764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17320" y="500634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PWMB   — Motor B speed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248655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" y="5285231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5248655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17320" y="528523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SDA — OLED I2C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527547"/>
            <a:ext cx="100584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4048" y="5564123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A34A"/>
                </a:solidFill>
              </a:rPr>
              <a:t>GPIO 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5527547"/>
            <a:ext cx="4023360" cy="274320"/>
          </a:xfrm>
          <a:prstGeom prst="rect">
            <a:avLst/>
          </a:prstGeom>
          <a:solidFill>
            <a:srgbClr val="DCFCE7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5564123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</a:rPr>
              <a:t>SCL — OLED I2C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806439"/>
            <a:ext cx="10058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5843015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9CA3AF"/>
                </a:solidFill>
              </a:rPr>
              <a:t>GPIO 1/3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0" y="5806439"/>
            <a:ext cx="40233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7320" y="5843015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UART TX/RX → Raspberry Pi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Power Architecture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66560" y="1664208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LiPo Battery  7.4V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2176272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BMS  (protection)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66560" y="2688336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Main Switch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3200400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Buck Converter → 5V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3712463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ESP32 VIN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2926080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TB6612FNG VM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3438144"/>
            <a:ext cx="260604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Motors (L+R)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0" y="3950208"/>
            <a:ext cx="2606040" cy="34747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Raspberry Pi  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42245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★  All grounds tied together (common GND)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4553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★  Capacitors across motor rails — suppress voltage spikes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26480" y="488289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★  Motors NOT powered through buck (current surge protection)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Flow Diagram — Sense → Decide →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Current: rule-based (green)  ·  Planned: LLM-driven (gray)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Current Implementation 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⚡ Power On &amp; Init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48256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76272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Read F / L / R Distances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560320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88336"/>
            <a:ext cx="5212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Front &lt; 20 cm?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3072384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200400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Stop Motors · 200ms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584448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12464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Left &gt; Right?  →  Turn L / 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4096512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224528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Left &lt; 15 cm?  →  Slight Right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608576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736592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Right &lt; 15 cm?  →  Slight Left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120640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248656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FORWARD at speedVal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5632704"/>
            <a:ext cx="91440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760720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Update OLED + Serial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272784"/>
            <a:ext cx="5212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Delay 100ms →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Planned: LLM-Driven  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664208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Camera + Mic + Sensor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048256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2176272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Build Multimodal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2560320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46520" y="2688336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LLM API Call (Raspberry Pi)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072384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200400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Parse JSON Command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584448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3712464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Safety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4096512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4224528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Serial → ESP32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4608576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46520" y="4736592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Execute Motor Command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5120640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5248656"/>
            <a:ext cx="5212080" cy="38404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FFFFFF"/>
                </a:solidFill>
              </a:rPr>
              <a:t>Sensor telemetry → Pi (loop)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5632704"/>
            <a:ext cx="91440" cy="12801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0" y="3566160"/>
            <a:ext cx="7772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Actor → System interactions · completed (green) · planned (gray)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743200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👤 User /
Engineer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029200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132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🌍 Environment
(Physical)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3200400"/>
            <a:ext cx="347472" cy="347472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35844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🤖 LLM Service
(API)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234440"/>
            <a:ext cx="8046720" cy="5166360"/>
          </a:xfrm>
          <a:prstGeom prst="rect">
            <a:avLst/>
          </a:prstGeom>
          <a:solidFill>
            <a:srgbClr val="F8FA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2984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</a:rPr>
              <a:t>Kanda Robot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719072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1B2A4A"/>
                </a:solidFill>
              </a:rPr>
              <a:t>Flash Firmware to ESP32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267712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1B2A4A"/>
                </a:solidFill>
              </a:rPr>
              <a:t>Monitor via Serial + OLED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816352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1B2A4A"/>
                </a:solidFill>
              </a:rPr>
              <a:t>Tune Speed / Threshold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364992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1B2A4A"/>
                </a:solidFill>
              </a:rPr>
              <a:t>Autonomous Obstacle Avoidance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913632"/>
            <a:ext cx="33832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1B2A4A"/>
                </a:solidFill>
              </a:rPr>
              <a:t>Real-time Sensor Display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719072"/>
            <a:ext cx="33832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9CA3AF"/>
                </a:solidFill>
              </a:rPr>
              <a:t>Give Voice / Text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267712"/>
            <a:ext cx="33832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9CA3AF"/>
                </a:solidFill>
              </a:rPr>
              <a:t>Camera Scene Understanding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816352"/>
            <a:ext cx="33832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9CA3AF"/>
                </a:solidFill>
              </a:rPr>
              <a:t>LLM Reasoning &amp;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364992"/>
            <a:ext cx="33832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9CA3AF"/>
                </a:solidFill>
              </a:rPr>
              <a:t>Natural Language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3913632"/>
            <a:ext cx="33832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>
                <a:solidFill>
                  <a:srgbClr val="9CA3AF"/>
                </a:solidFill>
              </a:rPr>
              <a:t>Safety Override /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263640"/>
            <a:ext cx="155448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✅ Completed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6263640"/>
            <a:ext cx="1554480" cy="2743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⏳ Planned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Innovation &amp; Problem-Solving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Engineering decisions that made the system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261872"/>
            <a:ext cx="5669280" cy="25603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566928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Hardware-First AI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71907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Built full embodiment layer before AI to ensure stable execution substrate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3042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Most academic projects bolt hardware onto AI — we invert this correctly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8950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Result: deterministic, safe motor control regardless of AI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261872"/>
            <a:ext cx="5669280" cy="25603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261872"/>
            <a:ext cx="5669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Voltage Divider Improvisation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71907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HC-SR04 ECHO outputs 5V — unsafe for ESP32 3.3V GPIO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3042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No 2kΩ resistors available → used 1kΩ + 1kΩ (same ratio, same result)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88950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Demonstrates engineering principle: workable + safe &gt; perfect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005072"/>
            <a:ext cx="5669280" cy="25603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4005072"/>
            <a:ext cx="566928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ESP32 Core v3 API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46227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ledcSetup() deprecated in Arduino core v3 — caused compile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0474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Migrated to new ledcAttach(pin, freq, bits) single-call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5632703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Proactively future-proofed against further deprecation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1072" y="4005072"/>
            <a:ext cx="5669280" cy="256032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4005072"/>
            <a:ext cx="5669280" cy="36576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Dual-Layer Architecture (Body/Brain)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46227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ESP32 = Body: fast, deterministic hardware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0474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Raspberry Pi = Brain: LLM reasoning, context,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5632703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B2A4A"/>
                </a:solidFill>
              </a:rPr>
              <a:t>• Separation allows independent testing and safe fallback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Partial Implementation — Phase 2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BEAFE"/>
                </a:solidFill>
              </a:rPr>
              <a:t>What is built · tested · and working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" y="1234440"/>
            <a:ext cx="5577840" cy="51663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✅  Completed &amp; Working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19072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Power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Battery → BMS → Buck → ESP32  (motors direct)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377439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140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3× HC-SR04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Voltage dividers on ECHO · GPIO34/35/32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035807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723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TB6612FNG Motor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AIN/BIN direction + PWMA/PWMB speed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694175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SSD1306 OLED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I2C on GPIO21/22 · real-time sensor + action display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352543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3891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Obstacle Avoidance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Front threshold · side steering · smooth turning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5010911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474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Pin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03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Conflict-free · no strapping/UART/unstable pins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669279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70585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</a:rPr>
              <a:t>ESP32 Core v3 Firmware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ledcAttach() API · serial debug output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234440"/>
            <a:ext cx="5577840" cy="516636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298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⏳  Pending — 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719072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755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Raspberry Pi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0116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UART bridge ESP32↔Pi · JSON command protocol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377439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4140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Camera Module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67004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Video frames → Pi → LLM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035807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0723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Microphone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32841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Audio input · speech-to-text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3694175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73075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LLM API Pipeline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9867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Prompt engineering · GPT-4/Gemini integration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352543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3891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Safety Validator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64515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Command range checks before motor execution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5010911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0474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Speaker / TTS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3035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Audio feedback from robot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5669279"/>
            <a:ext cx="530352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570585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CA3AF"/>
                </a:solidFill>
              </a:rPr>
              <a:t>Closed-Loop Telemetry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9618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Sensor data fed back into LLM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261872"/>
            <a:ext cx="11475720" cy="502920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9304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[1]  Espressif Systems. (2024). ESP32 Technical Reference Manual. https://docs.espressif.com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Hardware datasheet for ESP32 microcontroller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801367"/>
            <a:ext cx="114757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799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[2]  Toshiba. (2020). TB6612FNG Dual DC Motor Driver Datasheet.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5687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Motor driver component specification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340863"/>
            <a:ext cx="11475720" cy="502920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5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[3]  JSR. HC-SR04 Ultrasonic Module User Guide.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15183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Ultrasonic sensor operational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880359"/>
            <a:ext cx="114757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1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[4]  Solomon Systech. SSD1306 OLED Datasheet.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79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128×64 OLED display I2C communication protocol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419855"/>
            <a:ext cx="11475720" cy="502920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47287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[5]  Brown, T., et al. (2020). Language Models are Few-Shot Learners. NeurIPS.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94175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Foundation paper on GPT-3 / LLM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959351"/>
            <a:ext cx="114757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86783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[6]  Ahn, M., et al. (2022). Do As I Can, Not As I Say: Grounding Language in Robotic Affordances. arXiv:2204.01691.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33671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SayCan — embodied AI with LLM reasoning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498847"/>
            <a:ext cx="11475720" cy="502920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26279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[7]  Brohan, A., et al. (2023). RT-2: Vision-Language-Action Models Transfer Web Knowledge to Robotic Control. arXiv:2307.15818.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73167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Multimodal LLM-to-robot action transfer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038343"/>
            <a:ext cx="1147572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65775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[8]  Peng, X., et al. (2023). EmbodiedGPT: Vision-Language Pre-Training via Embodied Chain of Thought. arXiv:2305.15021.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12663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Chain-of-thought reasoning for embodied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5577839"/>
            <a:ext cx="11475720" cy="502920"/>
          </a:xfrm>
          <a:prstGeom prst="rect">
            <a:avLst/>
          </a:prstGeom>
          <a:solidFill>
            <a:srgbClr val="DBEAFE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605271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[9]  Arduino. (2024). ESP32 Arduino Core v3 Migration Guide. https://docs.arduino.cc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59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ledcAttach API changes from core v2 to v3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1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45720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AFE"/>
                </a:solidFill>
              </a:rPr>
              <a:t>Kanda  ·  A Multimodal Embodied Robot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CA3AF"/>
                </a:solidFill>
              </a:rPr>
              <a:t>Phase 2 Complete  ·  Foundation ready for LLM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114800"/>
            <a:ext cx="16459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Hardware Platform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114800"/>
            <a:ext cx="16459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Obstacle Avoidance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4114800"/>
            <a:ext cx="16459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OLED Feedback 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4114800"/>
            <a:ext cx="1645920" cy="4114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Integration 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4114800"/>
            <a:ext cx="1645920" cy="4114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Multimodal Input 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