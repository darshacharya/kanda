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nda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029200" cy="5943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1B2A4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667512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KANDA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BEAFE"/>
                </a:solidFill>
              </a:rPr>
              <a:t>Knowledge-driven Autonomous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BEAFE"/>
                </a:solidFill>
              </a:rPr>
              <a:t>and Decision-making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4436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 Multimodal Embodied Robot Agent Powered by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with Hardware Aware Action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Review I  ·  Phase 2: Embodiment Layer Complete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577840"/>
            <a:ext cx="182880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2  ✅ 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</a:rPr>
              <a:t>Review I  ·  KANDA Robot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167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47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Meet KANDA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0864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System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71216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07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Methodology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01568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381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Use of Tools &amp; Techniques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6849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Implementation Progress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62272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988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Identification of Journal / Conference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92624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292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</a:rPr>
              <a:t>A Multimodal Embodied Robot Agent Powered by LLMs with Hardware Aware Action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B2A4A"/>
                </a:solidFill>
              </a:rPr>
              <a:t>KANDA is a low-cost, embodied robot designed for household companion applications — combining physical sensing, autonomous navigation, and LLM-based reasoning on commodity hardware (ESP32 + Raspberry Pi).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49240" cy="4572000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3492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What KANDA Does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2377440"/>
            <a:ext cx="118872" cy="1188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</a:rPr>
              <a:t>Autonomous navigation on commodity hardware — ESP32 + HC-SR04 sensors + motor driver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3182112"/>
            <a:ext cx="118872" cy="118872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LLM as the reasoning brain — Raspberry Pi bridges robot to GPT-4 / Gemini API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3986784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13632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</a:rPr>
              <a:t>Household companion use cases — elderly care, child tutoring, reminders, home automation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4791456"/>
            <a:ext cx="118872" cy="118872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18304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Safety-first LLM-to-hardware execution — every command validated before motor 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2512" y="1828800"/>
            <a:ext cx="5349240" cy="457200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1828800"/>
            <a:ext cx="53492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Research Gap Addressed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3172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</a:rPr>
              <a:t>✗  LLM-robot systems (SayCan, RT-2) require expensive proprietary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</a:rPr>
              <a:t>✗  Low-cost ESP32 systems (ESP-SparkBot) have voice only — no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690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</a:rPr>
              <a:t>✗  No open protocol translates LLM output into hardware-safe motor commands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6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2A4A"/>
                </a:solidFill>
              </a:rPr>
              <a:t>✗  Companion robotics research uses commercial robots, not DIY platforms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Meet KANDA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</a:rPr>
              <a:t>Phase 2 — Built &amp; Working  ✅</a:t>
            </a:r>
          </a:p>
        </p:txBody>
      </p:sp>
      <p:pic>
        <p:nvPicPr>
          <p:cNvPr id="6" name="Picture 5" descr="kanda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30352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833872"/>
            <a:ext cx="530352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 View — ESP32 · TB6612FNG · OLED · Battery</a:t>
            </a:r>
          </a:p>
        </p:txBody>
      </p:sp>
      <p:pic>
        <p:nvPicPr>
          <p:cNvPr id="8" name="Picture 7" descr="kanda(2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57784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5833872"/>
            <a:ext cx="557784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Front View — HC-SR04 Sensors · Wheels · Full Assembly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14173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Battery + BMS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4173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ESP32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01952"/>
            <a:ext cx="14173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TB6612FNG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9424"/>
            <a:ext cx="14173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OLED Display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96896"/>
            <a:ext cx="141732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Breadboard wiring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Design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</a:rPr>
              <a:t>Two-layer design: Embodiment (✅ done) · Intelligence (⏳ planned)</a:t>
            </a:r>
          </a:p>
        </p:txBody>
      </p:sp>
      <p:pic>
        <p:nvPicPr>
          <p:cNvPr id="6" name="Picture 5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6263640"/>
            <a:ext cx="169164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✅ Completed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6263640"/>
            <a:ext cx="1691640" cy="2743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⏳ Planned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Low-Level Design — Pin Mapping &amp;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</a:rPr>
              <a:t>Signal conditioning · Power architecture · Component connections</a:t>
            </a:r>
          </a:p>
        </p:txBody>
      </p:sp>
      <p:pic>
        <p:nvPicPr>
          <p:cNvPr id="6" name="Picture 5" descr="pin-level-l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6291072"/>
            <a:ext cx="274320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FFFFFF"/>
                </a:solidFill>
              </a:rPr>
              <a:t>ECHO pins: 5V → 2.5V via 1kΩ+1kΩ divider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6291072"/>
            <a:ext cx="274320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FFFFFF"/>
                </a:solidFill>
              </a:rPr>
              <a:t>PWM: 1kHz · 8-bit · ledcAttach()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6291072"/>
            <a:ext cx="274320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FFFFFF"/>
                </a:solidFill>
              </a:rPr>
              <a:t>I2C: GPIO21 SDA · GPIO22 SCL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6291072"/>
            <a:ext cx="2743200" cy="2560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FFFFFF"/>
                </a:solidFill>
              </a:rPr>
              <a:t>Motors: direct battery feed (not through buck)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 — Sense → Decide → Act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</a:rPr>
              <a:t>Current: rule-based (green)  ·  Planned: LLM-driven (gray)</a:t>
            </a:r>
          </a:p>
        </p:txBody>
      </p:sp>
      <p:pic>
        <p:nvPicPr>
          <p:cNvPr id="6" name="Picture 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498079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143000"/>
            <a:ext cx="3657600" cy="2468880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188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Phase 2  ✅ 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600200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Read F/L/R sensor distances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947672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Rule-based obstacle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95144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Motor control via PWM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642615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OLED + Serial feedback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749039"/>
            <a:ext cx="3657600" cy="2697480"/>
          </a:xfrm>
          <a:prstGeom prst="rect">
            <a:avLst/>
          </a:prstGeom>
          <a:solidFill>
            <a:srgbClr val="F3F4F6"/>
          </a:solidFill>
          <a:ln w="1524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794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A3AF"/>
                </a:solidFill>
              </a:rPr>
              <a:t>Phase 3  ⏳  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187952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• Camera + Mic + Sensor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535424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• LLM API call (Raspberry 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882896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• Safety validator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230368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• JSON → UART → ESP32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577840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• TTS verbal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of Tools &amp;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</a:rPr>
              <a:t>Hardware + Software stack with justification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98448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3258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Microcontroller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32588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Dual-core, 3.3V, abundant GPIO, ledcAttach PWM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46504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810512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TB6612FNG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18379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Motor Driver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837944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Efficient H-bridge, 1.2A/ch, STBY pin, direction+PWM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58568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2322576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HC-SR04 ×3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23500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Ultrasonic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350008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2–400cm range; 1kΩ+1kΩ divider → 5V ECHO to 2.5V safe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70632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2834640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SSD1306 OLED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2862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862072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I2C (2 pins), 128×64, real-time decision feedback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82696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46704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Buck Converter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33741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Power Reg.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374136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Stable 5V for ESP32; motors run on direct battery to avoid surge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94760"/>
            <a:ext cx="11521440" cy="475488"/>
          </a:xfrm>
          <a:prstGeom prst="rect">
            <a:avLst/>
          </a:prstGeom>
          <a:solidFill>
            <a:srgbClr val="F3F4F6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" y="3858768"/>
            <a:ext cx="1508760" cy="34747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Raspberry 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38862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AI Compute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88620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Full Linux OS, Python, LLM API client, UART to ESP32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06824"/>
            <a:ext cx="11521440" cy="475488"/>
          </a:xfrm>
          <a:prstGeom prst="rect">
            <a:avLst/>
          </a:prstGeom>
          <a:solidFill>
            <a:srgbClr val="F3F4F6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" y="4370832"/>
            <a:ext cx="1508760" cy="34747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GPT-4 / Gemini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3392" y="439826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LLM Reasoning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4398264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Multimodal capability, JSON function calling for motor commands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18888"/>
            <a:ext cx="11521440" cy="475488"/>
          </a:xfrm>
          <a:prstGeom prst="rect">
            <a:avLst/>
          </a:prstGeom>
          <a:solidFill>
            <a:srgbClr val="F3F4F6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" y="4882896"/>
            <a:ext cx="1508760" cy="34747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Whisper (OpenAI)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49103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Speech-to-Text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4910328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Converts microphone audio to text for LLM context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330952"/>
            <a:ext cx="11521440" cy="475488"/>
          </a:xfrm>
          <a:prstGeom prst="rect">
            <a:avLst/>
          </a:prstGeom>
          <a:solidFill>
            <a:srgbClr val="F3F4F6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" y="5394960"/>
            <a:ext cx="1508760" cy="34747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JSON Protocol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3392" y="542239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Command Bridge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5422392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Type-safe, range-validated, hardware-safe action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</a:rPr>
              <a:t>Phase 2 complete · Phase 3 defined and ready to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577840" cy="40233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435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✅  Phase 2 —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✓  Power architecture: Battery → BMS → Buck → ESP32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214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✓  3× HC-SR04 sensors with voltage dividers (5V→2.5V)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786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✓  TB6612FNG motor control: direction + PWM speed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✓  SSD1306 OLED: real-time sensor + decision display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930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✓  Conflict-free pin mapping (no strapping/UART pins)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502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✓  Obstacle avoidance firmware (ESP32 Arduino core v3)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074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✓  Smooth steering: front stop + side correction logic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188720"/>
            <a:ext cx="5577840" cy="402336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2435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⏳  Phase 3 — Planned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16642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○  Raspberry Pi integration + UART bridge to ESP32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21214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○  Camera module: visual scene input to LLM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25786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○  Microphone + Whisper speech transcription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30358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○  LLM API integration (GPT-4 / Gemini)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34930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○  Safety validator: range checks before motor execution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39502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○  Text-to-speech verbal companion responses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4407408"/>
            <a:ext cx="530352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○  Closed-loop: sensor telemetry back to LLM context</a:t>
            </a:r>
          </a:p>
        </p:txBody>
      </p:sp>
      <p:pic>
        <p:nvPicPr>
          <p:cNvPr id="38" name="Picture 37" descr="kanda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321808"/>
            <a:ext cx="3657600" cy="1280160"/>
          </a:xfrm>
          <a:prstGeom prst="rect">
            <a:avLst/>
          </a:prstGeom>
        </p:spPr>
      </p:pic>
      <p:pic>
        <p:nvPicPr>
          <p:cNvPr id="39" name="Picture 38" descr="kanda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321808"/>
            <a:ext cx="3657600" cy="128016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20040" y="6492240"/>
            <a:ext cx="7498079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KANDA — Phase 2 Hardware (Built &amp; Tested)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Identification of Journal / Conference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BEAFE"/>
                </a:solidFill>
              </a:rPr>
              <a:t>Target venues for publishing KANDA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822960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307592"/>
            <a:ext cx="41148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50" b="1">
                <a:solidFill>
                  <a:srgbClr val="FFFFFF"/>
                </a:solidFill>
              </a:rPr>
              <a:t>  IEEE Robotics and Automation Letters (RA-L)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325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Q1 · Impact Factor ~5.2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3258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Top venue for embodied AI + robot control research. Directly relevant to hardware-aware LLM action generation.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673352"/>
            <a:ext cx="219456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48840"/>
            <a:ext cx="11521440" cy="822960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2221992"/>
            <a:ext cx="41148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50" b="1">
                <a:solidFill>
                  <a:srgbClr val="FFFFFF"/>
                </a:solidFill>
              </a:rPr>
              <a:t>  ACM/IEEE HRI — Human-Robot Interaction Conference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Top-tier conference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240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Premier venue for companion robotics research. Covers elderly assistance, child interaction, and social robots.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587752"/>
            <a:ext cx="219456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63240"/>
            <a:ext cx="11521440" cy="822960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3136392"/>
            <a:ext cx="411480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50" b="1">
                <a:solidFill>
                  <a:srgbClr val="FFFFFF"/>
                </a:solidFill>
              </a:rPr>
              <a:t>  Frontiers in Robotics and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Q2 · Open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1546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Published companion robot design studies (2024). Strong fit for KANDA's household application domain.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3502152"/>
            <a:ext cx="219456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77639"/>
            <a:ext cx="11521440" cy="822960"/>
          </a:xfrm>
          <a:prstGeom prst="rect">
            <a:avLst/>
          </a:prstGeom>
          <a:solidFill>
            <a:srgbClr val="F3F4F6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4050791"/>
            <a:ext cx="4114800" cy="3200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50" b="1">
                <a:solidFill>
                  <a:srgbClr val="FFFFFF"/>
                </a:solidFill>
              </a:rPr>
              <a:t>  JMIR Human Factors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0690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Q1 · Open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069079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Published LLM+robot geriatric care studies (2025). Direct match for elderly companion evaluation results.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416552"/>
            <a:ext cx="2194560" cy="2377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Secondary Option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892040"/>
            <a:ext cx="11521440" cy="822960"/>
          </a:xfrm>
          <a:prstGeom prst="rect">
            <a:avLst/>
          </a:prstGeom>
          <a:solidFill>
            <a:srgbClr val="F3F4F6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" y="4965192"/>
            <a:ext cx="4114800" cy="3200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50" b="1">
                <a:solidFill>
                  <a:srgbClr val="FFFFFF"/>
                </a:solidFill>
              </a:rPr>
              <a:t>  IEEE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9834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Q2 · Open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983479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Broad engineering scope. Suitable for the embedded systems + AI integration aspect of KANDA.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5330952"/>
            <a:ext cx="2194560" cy="2377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Secondary Option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61872"/>
            <a:ext cx="11475720" cy="384048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1673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[1]  M. Ahn et al., "Do As I Can, Not As I Say," arXiv:2204.01691, Google, 2022.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82495"/>
            <a:ext cx="11475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[2]  A. Brohan et al., "RT-2: Vision-Language-Action Models," arXiv:2307.15818, Google DeepMind, 2023.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2103120"/>
            <a:ext cx="11475720" cy="384048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5798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[3]  D. Driess et al., "PaLM-E: An Embodied Multimodal Language Model," arXiv:2303.03378, 2023.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523744"/>
            <a:ext cx="11475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[4]  "Safety Guardrails for LLM-Enabled Robots (RoboGuard)," arXiv:2503.07885, 2025.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944368"/>
            <a:ext cx="11475720" cy="384048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9923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[5]  "SafeEmbodAI: Safety Validation for Mobile Robot Navigation," arXiv:2409.01630, 2024.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364991"/>
            <a:ext cx="11475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198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[6]  J. Shen et al., "Socially Assistive Robot + LLM in Geriatric Care," JMIR Human Factors, 2025.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785615"/>
            <a:ext cx="11475720" cy="384048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79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[7]  "Conversational Companion Robots With Older Adults," Frontiers in Robotics and AI, 2024.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4206240"/>
            <a:ext cx="11475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61103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[8]  Espressif Systems, "ESP-SparkBot: LLM Robot with ESP32-S3," Espressif Dev Portal, 2025.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626864"/>
            <a:ext cx="11475720" cy="384048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81727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[9]  A. Radford et al., "Robust Speech Recognition via Large-Scale Weak Supervision (Whisper)," OpenAI, 2022.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5047488"/>
            <a:ext cx="11475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102351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[10] Espressif Systems, ESP32 Technical Reference Manual, v5.2, 2024.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468112"/>
            <a:ext cx="11475720" cy="384048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22975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[11] Toshiba Semiconductor, TB6612FNG Motor Driver Datasheet, 2020.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5888736"/>
            <a:ext cx="11475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943599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[12] Solomon Systech, SSD1306 OLED Driver Datasheet, 2008.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nda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0"/>
            <a:ext cx="4114800" cy="5029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41148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AFE"/>
                </a:solidFill>
              </a:rPr>
              <a:t>A Multimodal Embodied Robot Agent Powered by LLMs with Hardware Aware Action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Phase 2 Complete · Foundation ready for LLM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13258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Hardware ✅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4206240"/>
            <a:ext cx="13258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Navigation 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4206240"/>
            <a:ext cx="13258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OLED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206240"/>
            <a:ext cx="13258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LLM 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206240"/>
            <a:ext cx="13258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Companion 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"The hardware works. The architecture is sound. KANDA is ready to think."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