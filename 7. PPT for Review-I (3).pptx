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
  </p:handoutMasterIdLst>
  <p:sldIdLst>
    <p:sldId id="256" r:id="rId3"/>
    <p:sldId id="258" r:id="rId5"/>
    <p:sldId id="259" r:id="rId6"/>
    <p:sldId id="260" r:id="rId7"/>
    <p:sldId id="261" r:id="rId8"/>
    <p:sldId id="262"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howGuides="1">
      <p:cViewPr varScale="1">
        <p:scale>
          <a:sx n="79" d="100"/>
          <a:sy n="79" d="100"/>
        </p:scale>
        <p:origin x="200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656F3D7-7BE3-48E2-90FE-4D38A54F121F}" type="datetimeFigureOut">
              <a:rPr lang="en-IN" smtClean="0"/>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7FEAB71-6ADF-494C-9D4F-28209F59E3B0}" type="slidenum">
              <a:rPr lang="en-IN" smtClean="0"/>
            </a:fld>
            <a:endParaRPr lang="en-IN"/>
          </a:p>
        </p:txBody>
      </p:sp>
    </p:spTree>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94FC36-5B58-43CC-B301-AD834FF77751}" type="datetimeFigureOut">
              <a:rPr lang="en-IN" smtClean="0"/>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641298-0412-4BBC-B154-76410E64DAAD}" type="slidenum">
              <a:rPr lang="en-IN" smtClean="0"/>
            </a:fld>
            <a:endParaRPr lang="en-IN"/>
          </a:p>
        </p:txBody>
      </p:sp>
    </p:spTree>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6641298-0412-4BBC-B154-76410E64DAAD}" type="slidenum">
              <a:rPr lang="en-IN" smtClean="0"/>
            </a:fld>
            <a:endParaRPr lang="en-IN"/>
          </a:p>
        </p:txBody>
      </p:sp>
      <p:sp>
        <p:nvSpPr>
          <p:cNvPr id="5" name="Header Placeholder 4"/>
          <p:cNvSpPr>
            <a:spLocks noGrp="1"/>
          </p:cNvSpPr>
          <p:nvPr>
            <p:ph type="hdr" sz="quarter" idx="11"/>
          </p:nvPr>
        </p:nvSpPr>
        <p:spPr/>
        <p:txBody>
          <a:bodyPr/>
          <a:lstStyle/>
          <a:p>
            <a:endParaRPr lang="en-IN"/>
          </a:p>
        </p:txBody>
      </p:sp>
      <p:sp>
        <p:nvSpPr>
          <p:cNvPr id="6" name="Date Placeholder 5"/>
          <p:cNvSpPr>
            <a:spLocks noGrp="1"/>
          </p:cNvSpPr>
          <p:nvPr>
            <p:ph type="dt" idx="12"/>
          </p:nvPr>
        </p:nvSpPr>
        <p:spPr/>
        <p:txBody>
          <a:bodyPr/>
          <a:lstStyle/>
          <a:p>
            <a:fld id="{56C8FCCC-71A3-4F55-B763-2E0CB47EF8BB}" type="datetime1">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5AD5970-8C77-423A-9FEA-85206E82E233}"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BD7B26C-2BD2-40C8-9F2D-2C5E09392530}"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F827B99-C27A-459C-BB87-52EA96B07DAC}"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3983496F-F8A5-4392-BA4B-A680C2930FB1}"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C7900CDC-B9C1-44DE-9566-359AA8306A66}"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0EF840A-E30D-4584-A230-F7F08771B4AA}"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BB6471-6211-495D-A4B6-4ACCCC931986}"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05E4A9A-B97F-4D68-88F2-750FED65C439}"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B2F398D-AB88-4A7F-97A2-DCB001E08FA1}"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7585428-E86F-4227-950A-FB488DA79C72}"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3FEA561-B204-41F8-BE8C-F115B39A6DCF}"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04978B-8A71-4510-98B9-87908FB3C939}" type="datetime1">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19201"/>
            <a:ext cx="8001000" cy="2381250"/>
          </a:xfrm>
        </p:spPr>
        <p:txBody>
          <a:bodyPr>
            <a:normAutofit fontScale="90000"/>
          </a:bodyPr>
          <a:lstStyle/>
          <a:p>
            <a:r>
              <a:rPr lang="en-IN" sz="2200" dirty="0">
                <a:latin typeface="Times New Roman" panose="02020603050405020304" charset="0"/>
                <a:cs typeface="Times New Roman" panose="02020603050405020304" charset="0"/>
              </a:rPr>
              <a:t>MTech in Information Technology</a:t>
            </a:r>
            <a:br>
              <a:rPr lang="en-IN" dirty="0">
                <a:latin typeface="Times New Roman" panose="02020603050405020304" charset="0"/>
                <a:cs typeface="Times New Roman" panose="02020603050405020304" charset="0"/>
              </a:rPr>
            </a:br>
            <a:r>
              <a:rPr lang="en-IN" sz="3600" dirty="0">
                <a:latin typeface="Times New Roman" panose="02020603050405020304" charset="0"/>
                <a:cs typeface="Times New Roman" panose="02020603050405020304" charset="0"/>
              </a:rPr>
              <a:t>Review-1</a:t>
            </a:r>
            <a:br>
              <a:rPr lang="en-IN" dirty="0">
                <a:latin typeface="Times New Roman" panose="02020603050405020304" charset="0"/>
                <a:cs typeface="Times New Roman" panose="02020603050405020304" charset="0"/>
              </a:rPr>
            </a:br>
            <a:r>
              <a:rPr lang="en-IN" sz="3600" dirty="0">
                <a:latin typeface="Times New Roman" panose="02020603050405020304" charset="0"/>
                <a:cs typeface="Times New Roman" panose="02020603050405020304" charset="0"/>
              </a:rPr>
              <a:t>Major Project</a:t>
            </a:r>
            <a:br>
              <a:rPr lang="en-IN" sz="3600" dirty="0">
                <a:latin typeface="Times New Roman" panose="02020603050405020304" charset="0"/>
                <a:cs typeface="Times New Roman" panose="02020603050405020304" charset="0"/>
              </a:rPr>
            </a:br>
            <a:r>
              <a:rPr lang="en-IN" sz="2700" dirty="0">
                <a:latin typeface="Times New Roman" panose="02020603050405020304" charset="0"/>
                <a:cs typeface="Times New Roman" panose="02020603050405020304" charset="0"/>
              </a:rPr>
              <a:t>(MIT422P)</a:t>
            </a:r>
            <a:br>
              <a:rPr lang="en-IN" sz="2700" dirty="0">
                <a:latin typeface="Times New Roman" panose="02020603050405020304" charset="0"/>
                <a:cs typeface="Times New Roman" panose="02020603050405020304" charset="0"/>
              </a:rPr>
            </a:br>
            <a:br>
              <a:rPr lang="en-IN" sz="2700" dirty="0">
                <a:latin typeface="Times New Roman" panose="02020603050405020304" charset="0"/>
                <a:cs typeface="Times New Roman" panose="02020603050405020304" charset="0"/>
              </a:rPr>
            </a:br>
            <a:r>
              <a:rPr lang="en-IN" altLang="en-US" sz="2700" b="1" dirty="0">
                <a:latin typeface="Times New Roman" panose="02020603050405020304" charset="0"/>
                <a:cs typeface="Times New Roman" panose="02020603050405020304" charset="0"/>
              </a:rPr>
              <a:t>A Multimodal Embodied Robot Agent Powered by LLMs with Hardware Aware Action Generation</a:t>
            </a:r>
            <a:endParaRPr lang="en-IN" altLang="en-US" sz="2700" dirty="0">
              <a:latin typeface="Times New Roman" panose="02020603050405020304" charset="0"/>
              <a:cs typeface="Times New Roman" panose="02020603050405020304" charset="0"/>
            </a:endParaRPr>
          </a:p>
        </p:txBody>
      </p:sp>
      <p:sp>
        <p:nvSpPr>
          <p:cNvPr id="3" name="Subtitle 2"/>
          <p:cNvSpPr>
            <a:spLocks noGrp="1"/>
          </p:cNvSpPr>
          <p:nvPr>
            <p:ph type="subTitle" idx="1"/>
          </p:nvPr>
        </p:nvSpPr>
        <p:spPr>
          <a:xfrm>
            <a:off x="381000" y="4191000"/>
            <a:ext cx="8229600" cy="2362200"/>
          </a:xfrm>
        </p:spPr>
        <p:txBody>
          <a:bodyPr>
            <a:normAutofit fontScale="55000" lnSpcReduction="20000"/>
          </a:bodyPr>
          <a:lstStyle/>
          <a:p>
            <a:r>
              <a:rPr lang="en-IN" dirty="0">
                <a:solidFill>
                  <a:srgbClr val="002060"/>
                </a:solidFill>
                <a:latin typeface="Times New Roman" panose="02020603050405020304" charset="0"/>
                <a:cs typeface="Times New Roman" panose="02020603050405020304" charset="0"/>
              </a:rPr>
              <a:t>SUDARSHAN T S</a:t>
            </a:r>
            <a:endParaRPr lang="en-IN" dirty="0">
              <a:solidFill>
                <a:srgbClr val="002060"/>
              </a:solidFill>
              <a:latin typeface="Times New Roman" panose="02020603050405020304" charset="0"/>
              <a:cs typeface="Times New Roman" panose="02020603050405020304" charset="0"/>
            </a:endParaRPr>
          </a:p>
          <a:p>
            <a:r>
              <a:rPr lang="en-IN" dirty="0">
                <a:solidFill>
                  <a:srgbClr val="002060"/>
                </a:solidFill>
                <a:latin typeface="Times New Roman" panose="02020603050405020304" charset="0"/>
                <a:cs typeface="Times New Roman" panose="02020603050405020304" charset="0"/>
              </a:rPr>
              <a:t>1RV24SIT14</a:t>
            </a:r>
            <a:endParaRPr lang="en-IN" dirty="0">
              <a:solidFill>
                <a:srgbClr val="002060"/>
              </a:solidFill>
              <a:latin typeface="Times New Roman" panose="02020603050405020304" charset="0"/>
              <a:cs typeface="Times New Roman" panose="02020603050405020304" charset="0"/>
            </a:endParaRPr>
          </a:p>
          <a:p>
            <a:pPr algn="l"/>
            <a:endParaRPr lang="en-IN" dirty="0">
              <a:solidFill>
                <a:srgbClr val="002060"/>
              </a:solidFill>
              <a:latin typeface="Times New Roman" panose="02020603050405020304" charset="0"/>
              <a:cs typeface="Times New Roman" panose="02020603050405020304" charset="0"/>
            </a:endParaRPr>
          </a:p>
          <a:p>
            <a:pPr algn="l"/>
            <a:endParaRPr lang="en-IN" dirty="0">
              <a:solidFill>
                <a:srgbClr val="002060"/>
              </a:solidFill>
              <a:latin typeface="Times New Roman" panose="02020603050405020304" charset="0"/>
              <a:cs typeface="Times New Roman" panose="02020603050405020304" charset="0"/>
            </a:endParaRPr>
          </a:p>
          <a:p>
            <a:pPr algn="ctr"/>
            <a:r>
              <a:rPr lang="en-IN" dirty="0">
                <a:solidFill>
                  <a:srgbClr val="002060"/>
                </a:solidFill>
                <a:latin typeface="Times New Roman" panose="02020603050405020304" charset="0"/>
                <a:cs typeface="Times New Roman" panose="02020603050405020304" charset="0"/>
              </a:rPr>
              <a:t>Prof. Sushmitha N</a:t>
            </a:r>
            <a:endParaRPr lang="en-IN" dirty="0">
              <a:solidFill>
                <a:srgbClr val="002060"/>
              </a:solidFill>
              <a:latin typeface="Times New Roman" panose="02020603050405020304" charset="0"/>
              <a:cs typeface="Times New Roman" panose="02020603050405020304" charset="0"/>
            </a:endParaRPr>
          </a:p>
          <a:p>
            <a:pPr algn="ctr"/>
            <a:r>
              <a:rPr lang="en-IN" dirty="0">
                <a:solidFill>
                  <a:srgbClr val="002060"/>
                </a:solidFill>
                <a:latin typeface="Times New Roman" panose="02020603050405020304" charset="0"/>
                <a:cs typeface="Times New Roman" panose="02020603050405020304" charset="0"/>
              </a:rPr>
              <a:t>Assistant Professor</a:t>
            </a:r>
            <a:endParaRPr lang="en-IN" dirty="0">
              <a:solidFill>
                <a:srgbClr val="002060"/>
              </a:solidFill>
              <a:latin typeface="Times New Roman" panose="02020603050405020304" charset="0"/>
              <a:cs typeface="Times New Roman" panose="02020603050405020304" charset="0"/>
            </a:endParaRPr>
          </a:p>
          <a:p>
            <a:pPr algn="ctr"/>
            <a:r>
              <a:rPr lang="en-IN" dirty="0">
                <a:solidFill>
                  <a:srgbClr val="002060"/>
                </a:solidFill>
                <a:latin typeface="Times New Roman" panose="02020603050405020304" charset="0"/>
                <a:cs typeface="Times New Roman" panose="02020603050405020304" charset="0"/>
              </a:rPr>
              <a:t>ISE</a:t>
            </a:r>
            <a:endParaRPr lang="en-IN" dirty="0">
              <a:solidFill>
                <a:srgbClr val="002060"/>
              </a:solidFill>
              <a:latin typeface="Times New Roman" panose="02020603050405020304" charset="0"/>
              <a:cs typeface="Times New Roman" panose="02020603050405020304" charset="0"/>
            </a:endParaRPr>
          </a:p>
          <a:p>
            <a:pPr algn="ctr"/>
            <a:r>
              <a:rPr lang="en-IN" dirty="0">
                <a:solidFill>
                  <a:srgbClr val="002060"/>
                </a:solidFill>
                <a:latin typeface="Times New Roman" panose="02020603050405020304" charset="0"/>
                <a:cs typeface="Times New Roman" panose="02020603050405020304" charset="0"/>
              </a:rPr>
              <a:t>RVCE</a:t>
            </a:r>
            <a:endParaRPr lang="en-IN" dirty="0">
              <a:solidFill>
                <a:srgbClr val="002060"/>
              </a:solidFill>
              <a:latin typeface="Times New Roman" panose="02020603050405020304" charset="0"/>
              <a:cs typeface="Times New Roman" panose="02020603050405020304" charset="0"/>
            </a:endParaRPr>
          </a:p>
          <a:p>
            <a:endParaRPr lang="en-IN" dirty="0">
              <a:solidFill>
                <a:srgbClr val="002060"/>
              </a:solidFill>
              <a:latin typeface="Times New Roman" panose="02020603050405020304" charset="0"/>
              <a:cs typeface="Times New Roman" panose="02020603050405020304" charset="0"/>
            </a:endParaRPr>
          </a:p>
        </p:txBody>
      </p:sp>
      <p:pic>
        <p:nvPicPr>
          <p:cNvPr id="8" name="Picture 7"/>
          <p:cNvPicPr>
            <a:picLocks noChangeAspect="1"/>
          </p:cNvPicPr>
          <p:nvPr/>
        </p:nvPicPr>
        <p:blipFill>
          <a:blip r:embed="rId1"/>
          <a:stretch>
            <a:fillRect/>
          </a:stretch>
        </p:blipFill>
        <p:spPr>
          <a:xfrm>
            <a:off x="152401" y="91157"/>
            <a:ext cx="3276599" cy="842295"/>
          </a:xfrm>
          <a:prstGeom prst="rect">
            <a:avLst/>
          </a:prstGeom>
        </p:spPr>
      </p:pic>
      <p:pic>
        <p:nvPicPr>
          <p:cNvPr id="10" name="Picture 9"/>
          <p:cNvPicPr>
            <a:picLocks noChangeAspect="1"/>
          </p:cNvPicPr>
          <p:nvPr/>
        </p:nvPicPr>
        <p:blipFill>
          <a:blip r:embed="rId2"/>
          <a:stretch>
            <a:fillRect/>
          </a:stretch>
        </p:blipFill>
        <p:spPr>
          <a:xfrm>
            <a:off x="2286001" y="762001"/>
            <a:ext cx="48768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304800"/>
            <a:ext cx="8229600" cy="1143000"/>
          </a:xfrm>
          <a:prstGeom prst="rect">
            <a:avLst/>
          </a:prstGeom>
        </p:spPr>
        <p:txBody>
          <a:bodyPr/>
          <a:lstStyle/>
          <a:p>
            <a:r>
              <a:rPr lang="en-IN" sz="3200" dirty="0">
                <a:solidFill>
                  <a:srgbClr val="000000"/>
                </a:solidFill>
                <a:latin typeface="Times New Roman" panose="02020603050405020304" charset="0"/>
                <a:cs typeface="Times New Roman" panose="02020603050405020304" charset="0"/>
                <a:sym typeface="+mn-ea"/>
              </a:rPr>
              <a:t>Relevance of Topic to IT</a:t>
            </a:r>
            <a:endParaRPr lang="en-IN" sz="3200" dirty="0">
              <a:solidFill>
                <a:srgbClr val="000000"/>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a:xfrm>
            <a:off x="457200" y="1219200"/>
            <a:ext cx="8229600" cy="4525963"/>
          </a:xfrm>
        </p:spPr>
        <p:txBody>
          <a:bodyPr/>
          <a:lstStyle/>
          <a:p>
            <a:r>
              <a:rPr lang="en-US" altLang="en-US" sz="2000">
                <a:latin typeface="Times New Roman" panose="02020603050405020304" charset="0"/>
                <a:cs typeface="Times New Roman" panose="02020603050405020304" charset="0"/>
              </a:rPr>
              <a:t>This project applies core IT domains AI, Cloud Computing, and IoT to build an intelligent robot that perceives, reasons, and acts in a real physical environment.</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It demonstrates practical integration of Large Language Models with embedded hardware, addressing real-world challenges of deploying cloud AI on resource-constrained devices.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The safety layer design reflects software engineering principles of fault tolerance and reliability, extending IT practices into autonomous physical systems.</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286000" y="304800"/>
            <a:ext cx="4572000" cy="645160"/>
          </a:xfrm>
          <a:prstGeom prst="rect">
            <a:avLst/>
          </a:prstGeom>
          <a:noFill/>
        </p:spPr>
        <p:txBody>
          <a:bodyPr wrap="square" rtlCol="0" anchor="t">
            <a:spAutoFit/>
          </a:bodyPr>
          <a:p>
            <a:pPr algn="ctr"/>
            <a:r>
              <a:rPr lang="en-IN" sz="3600" dirty="0">
                <a:solidFill>
                  <a:srgbClr val="000000"/>
                </a:solidFill>
                <a:latin typeface="Times New Roman" panose="02020603050405020304" charset="0"/>
                <a:cs typeface="Times New Roman" panose="02020603050405020304" charset="0"/>
                <a:sym typeface="+mn-ea"/>
              </a:rPr>
              <a:t> </a:t>
            </a:r>
            <a:r>
              <a:rPr lang="en-IN" sz="3200" dirty="0">
                <a:solidFill>
                  <a:srgbClr val="000000"/>
                </a:solidFill>
                <a:latin typeface="Times New Roman" panose="02020603050405020304" charset="0"/>
                <a:cs typeface="Times New Roman" panose="02020603050405020304" charset="0"/>
                <a:sym typeface="+mn-ea"/>
              </a:rPr>
              <a:t>Literature </a:t>
            </a:r>
            <a:r>
              <a:rPr lang="en-IN" sz="3600" dirty="0">
                <a:solidFill>
                  <a:srgbClr val="000000"/>
                </a:solidFill>
                <a:latin typeface="Times New Roman" panose="02020603050405020304" charset="0"/>
                <a:cs typeface="Times New Roman" panose="02020603050405020304" charset="0"/>
                <a:sym typeface="+mn-ea"/>
              </a:rPr>
              <a:t>Survey </a:t>
            </a:r>
            <a:endParaRPr lang="en-IN" sz="3600" dirty="0">
              <a:solidFill>
                <a:srgbClr val="000000"/>
              </a:solidFill>
              <a:latin typeface="Times New Roman" panose="02020603050405020304" charset="0"/>
              <a:cs typeface="Times New Roman" panose="02020603050405020304" charset="0"/>
              <a:sym typeface="+mn-ea"/>
            </a:endParaRPr>
          </a:p>
        </p:txBody>
      </p:sp>
      <p:graphicFrame>
        <p:nvGraphicFramePr>
          <p:cNvPr id="5" name="Content Placeholder 4"/>
          <p:cNvGraphicFramePr/>
          <p:nvPr>
            <p:ph idx="1"/>
            <p:custDataLst>
              <p:tags r:id="rId1"/>
            </p:custDataLst>
          </p:nvPr>
        </p:nvGraphicFramePr>
        <p:xfrm>
          <a:off x="457200" y="1039495"/>
          <a:ext cx="8229600" cy="5127625"/>
        </p:xfrm>
        <a:graphic>
          <a:graphicData uri="http://schemas.openxmlformats.org/drawingml/2006/table">
            <a:tbl>
              <a:tblPr/>
              <a:tblGrid>
                <a:gridCol w="1645920"/>
                <a:gridCol w="1645920"/>
                <a:gridCol w="1645920"/>
                <a:gridCol w="1645920"/>
                <a:gridCol w="1645920"/>
              </a:tblGrid>
              <a:tr h="331470">
                <a:tc>
                  <a:txBody>
                    <a:bodyPr/>
                    <a:p>
                      <a:pPr algn="ctr"/>
                      <a:r>
                        <a:rPr sz="1400">
                          <a:latin typeface="Times New Roman" panose="02020603050405020304" charset="0"/>
                          <a:cs typeface="Times New Roman" panose="02020603050405020304" charset="0"/>
                        </a:rPr>
                        <a:t>Sl. No.</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Paper Name</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Author, Year</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What It Does</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Gap</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1308100">
                <a:tc>
                  <a:txBody>
                    <a:bodyPr/>
                    <a:p>
                      <a:pPr algn="ctr"/>
                      <a:r>
                        <a:rPr sz="1400">
                          <a:latin typeface="Times New Roman" panose="02020603050405020304" charset="0"/>
                          <a:cs typeface="Times New Roman" panose="02020603050405020304" charset="0"/>
                        </a:rPr>
                        <a:t>1</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Smart Farming Robot for Detecting Environmental Conditions in a Greenhouse</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Benos et al., 2023</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Mobile robot collects temp, humidity, CO₂ data</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No visual inspection or control actions</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1046480">
                <a:tc>
                  <a:txBody>
                    <a:bodyPr/>
                    <a:p>
                      <a:pPr algn="ctr"/>
                      <a:r>
                        <a:rPr sz="1400">
                          <a:latin typeface="Times New Roman" panose="02020603050405020304" charset="0"/>
                          <a:cs typeface="Times New Roman" panose="02020603050405020304" charset="0"/>
                        </a:rPr>
                        <a:t>2</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IoT Based Smart Greenhouse Framework and Control Strategies</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Farooq et al., 2023</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IoT monitoring with rule-based automation</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No AI reasoning or vision-based decisions</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994410">
                <a:tc>
                  <a:txBody>
                    <a:bodyPr/>
                    <a:p>
                      <a:pPr algn="ctr"/>
                      <a:r>
                        <a:rPr sz="1400">
                          <a:latin typeface="Times New Roman" panose="02020603050405020304" charset="0"/>
                          <a:cs typeface="Times New Roman" panose="02020603050405020304" charset="0"/>
                        </a:rPr>
                        <a:t>3</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Deep Learning CV Techniques for Smart Greenhouse (Review)</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Akbar et al., 2024</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Reviews CNN, YOLO, transformer models</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No robot integration or actuation</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784225">
                <a:tc>
                  <a:txBody>
                    <a:bodyPr/>
                    <a:p>
                      <a:pPr algn="ctr"/>
                      <a:r>
                        <a:rPr sz="1400">
                          <a:latin typeface="Times New Roman" panose="02020603050405020304" charset="0"/>
                          <a:cs typeface="Times New Roman" panose="02020603050405020304" charset="0"/>
                        </a:rPr>
                        <a:t>4</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Smart Greenhouse Design &amp; Control (Systematic Review)</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Ghiasi et al., 2023</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Covers MPC, RL, fuzzy control methods</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No visual plant feedback in control</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662940">
                <a:tc>
                  <a:txBody>
                    <a:bodyPr/>
                    <a:p>
                      <a:pPr algn="ctr"/>
                      <a:r>
                        <a:rPr sz="1400">
                          <a:latin typeface="Times New Roman" panose="02020603050405020304" charset="0"/>
                          <a:cs typeface="Times New Roman" panose="02020603050405020304" charset="0"/>
                        </a:rPr>
                        <a:t>5</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LLMs &amp; VLMs for Plant Stress Phenotyping</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Zhu et al., 2024</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Uses AI models for plant stress detection</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1400">
                          <a:latin typeface="Times New Roman" panose="02020603050405020304" charset="0"/>
                          <a:cs typeface="Times New Roman" panose="02020603050405020304" charset="0"/>
                        </a:rPr>
                        <a:t>No link to physical control systems</a:t>
                      </a:r>
                      <a:endParaRPr sz="1400">
                        <a:latin typeface="Times New Roman" panose="02020603050405020304" charset="0"/>
                        <a:cs typeface="Times New Roman" panose="02020603050405020304"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a:xfrm>
            <a:off x="457200" y="1371600"/>
            <a:ext cx="8229600" cy="4525963"/>
          </a:xfrm>
        </p:spPr>
        <p:txBody>
          <a:bodyPr>
            <a:normAutofit fontScale="50000"/>
          </a:bodyPr>
          <a:p>
            <a:pPr>
              <a:lnSpc>
                <a:spcPct val="150000"/>
              </a:lnSpc>
            </a:pPr>
            <a:r>
              <a:rPr lang="en-US" altLang="en-US">
                <a:latin typeface="Times New Roman" panose="02020603050405020304" charset="0"/>
                <a:cs typeface="Times New Roman" panose="02020603050405020304" charset="0"/>
              </a:rPr>
              <a:t>Current greenhouse automation systems rely on fixed sensor thresholds to control temperature, humidity, and irrigation — they react to numbers but cannot observe or understand the actual condition of plants. Simultaneously, plant disease detection systems using AI can analyse images but produce only text reports with no connection to physical environment control. No existing low-cost system integrates visual plant inspection, AI-based reasoning, and closed-loop environment actuation into a single autonomous agent.</a:t>
            </a:r>
            <a:br>
              <a:rPr lang="en-US" altLang="en-US">
                <a:latin typeface="Times New Roman" panose="02020603050405020304" charset="0"/>
                <a:cs typeface="Times New Roman" panose="02020603050405020304" charset="0"/>
              </a:rPr>
            </a:br>
            <a:endParaRPr lang="en-US" altLang="en-US">
              <a:latin typeface="Times New Roman" panose="02020603050405020304" charset="0"/>
              <a:cs typeface="Times New Roman" panose="02020603050405020304" charset="0"/>
            </a:endParaRPr>
          </a:p>
          <a:p>
            <a:pPr>
              <a:lnSpc>
                <a:spcPct val="150000"/>
              </a:lnSpc>
            </a:pPr>
            <a:r>
              <a:rPr lang="en-US" altLang="en-US">
                <a:latin typeface="Times New Roman" panose="02020603050405020304" charset="0"/>
                <a:cs typeface="Times New Roman" panose="02020603050405020304" charset="0"/>
              </a:rPr>
              <a:t>This project addresses the question: can a mobile robot using a multimodal Large Language Model as its reasoning engine inspect plants visually, interpret environmental sensor data, and make safe, context-aware decisions to control greenhouse conditions — replacing rigid threshold logic with intelligent, observation-driven automation?</a:t>
            </a:r>
            <a:endParaRPr lang="en-US" altLang="en-US">
              <a:latin typeface="Times New Roman" panose="02020603050405020304" charset="0"/>
              <a:cs typeface="Times New Roman" panose="02020603050405020304" charset="0"/>
            </a:endParaRPr>
          </a:p>
        </p:txBody>
      </p:sp>
      <p:sp>
        <p:nvSpPr>
          <p:cNvPr id="3" name="Text Box 2"/>
          <p:cNvSpPr txBox="1"/>
          <p:nvPr/>
        </p:nvSpPr>
        <p:spPr>
          <a:xfrm>
            <a:off x="2362200" y="609600"/>
            <a:ext cx="4572000" cy="583565"/>
          </a:xfrm>
          <a:prstGeom prst="rect">
            <a:avLst/>
          </a:prstGeom>
          <a:noFill/>
        </p:spPr>
        <p:txBody>
          <a:bodyPr wrap="square" rtlCol="0" anchor="t">
            <a:spAutoFit/>
          </a:bodyPr>
          <a:p>
            <a:r>
              <a:rPr lang="en-IN" sz="3200" dirty="0">
                <a:solidFill>
                  <a:srgbClr val="000000"/>
                </a:solidFill>
                <a:latin typeface="Times New Roman" panose="02020603050405020304" charset="0"/>
                <a:cs typeface="Times New Roman" panose="02020603050405020304" charset="0"/>
                <a:sym typeface="+mn-ea"/>
              </a:rPr>
              <a:t>Problem Formulation </a:t>
            </a:r>
            <a:endParaRPr lang="en-IN" sz="3200" dirty="0">
              <a:solidFill>
                <a:srgbClr val="000000"/>
              </a:solidFill>
              <a:latin typeface="Times New Roman" panose="02020603050405020304" charset="0"/>
              <a:cs typeface="Times New Roman" panose="0202060305040502030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a:xfrm>
            <a:off x="457200" y="762000"/>
            <a:ext cx="8229600" cy="5657850"/>
          </a:xfrm>
        </p:spPr>
        <p:txBody>
          <a:bodyPr>
            <a:noAutofit/>
          </a:bodyPr>
          <a:p>
            <a:pPr marL="0" indent="0">
              <a:buNone/>
            </a:pPr>
            <a:r>
              <a:rPr lang="en-US" altLang="en-US" sz="2000" b="1">
                <a:latin typeface="Times New Roman" panose="02020603050405020304" charset="0"/>
                <a:cs typeface="Times New Roman" panose="02020603050405020304" charset="0"/>
              </a:rPr>
              <a:t>Objectives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To design a hardware description prompt that communicates the robot's available sensors and actuators to an LLM as structured natural language context. </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To build a speech transcription pipeline using OpenAI Whisper that converts microphone input to text for submission to the LLM.</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To integrate a camera capture module that encodes visual frames and includes them in the multimodal LLM API request. </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To implement a motor actuation layer on Raspberry Pi that executes movement commands derived from the parsed LLM JSON response. </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To integrate a text-to-speech module that enables the robot to speak the verbal response returned by the LLM. Use similar to these</a:t>
            </a:r>
            <a:endParaRPr lang="en-US" altLang="en-US" sz="1800">
              <a:latin typeface="Times New Roman" panose="02020603050405020304" charset="0"/>
              <a:cs typeface="Times New Roman" panose="02020603050405020304" charset="0"/>
            </a:endParaRPr>
          </a:p>
          <a:p>
            <a:pPr marL="0" indent="0">
              <a:buNone/>
            </a:pPr>
            <a:r>
              <a:rPr lang="en-US" altLang="en-US" sz="2000" b="1">
                <a:latin typeface="Times New Roman" panose="02020603050405020304" charset="0"/>
                <a:cs typeface="Times New Roman" panose="02020603050405020304" charset="0"/>
              </a:rPr>
              <a:t>Scope</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Indoor greenhouse or small controlled plant setup only.</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Controls temperature, humidity, and irrigation — soil and pH monitoring not included.</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General plant stress observation — not species-level disease diagnosis.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Safety layer enforces hard limits on all actuator commands without exception.</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Prototype scale — results are indicative, not production-ready claims.</a:t>
            </a:r>
            <a:endParaRPr lang="en-US" altLang="en-US" sz="1800">
              <a:latin typeface="Times New Roman" panose="02020603050405020304" charset="0"/>
              <a:cs typeface="Times New Roman" panose="02020603050405020304" charset="0"/>
            </a:endParaRPr>
          </a:p>
        </p:txBody>
      </p:sp>
      <p:sp>
        <p:nvSpPr>
          <p:cNvPr id="3" name="Text Box 2"/>
          <p:cNvSpPr txBox="1"/>
          <p:nvPr/>
        </p:nvSpPr>
        <p:spPr>
          <a:xfrm>
            <a:off x="1988820" y="228600"/>
            <a:ext cx="4827905" cy="460375"/>
          </a:xfrm>
          <a:prstGeom prst="rect">
            <a:avLst/>
          </a:prstGeom>
          <a:noFill/>
        </p:spPr>
        <p:txBody>
          <a:bodyPr wrap="square" rtlCol="0">
            <a:spAutoFit/>
          </a:bodyPr>
          <a:p>
            <a:pPr algn="ctr"/>
            <a:r>
              <a:rPr lang="en-IN" sz="2400" b="1" dirty="0">
                <a:solidFill>
                  <a:srgbClr val="000000"/>
                </a:solidFill>
                <a:latin typeface="Times New Roman" panose="02020603050405020304" charset="0"/>
                <a:cs typeface="Times New Roman" panose="02020603050405020304" charset="0"/>
                <a:sym typeface="+mn-ea"/>
              </a:rPr>
              <a:t> Project Objectives and Scope</a:t>
            </a:r>
            <a:endParaRPr lang="en-IN" sz="2400" b="1" dirty="0">
              <a:solidFill>
                <a:srgbClr val="000000"/>
              </a:solidFill>
              <a:latin typeface="Times New Roman" panose="02020603050405020304" charset="0"/>
              <a:cs typeface="Times New Roman" panose="02020603050405020304"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a:xfrm>
            <a:off x="457200" y="914400"/>
            <a:ext cx="8229600" cy="5262880"/>
          </a:xfrm>
        </p:spPr>
        <p:txBody>
          <a:bodyPr>
            <a:noAutofit/>
          </a:bodyPr>
          <a:p>
            <a:pPr marL="0" indent="0">
              <a:lnSpc>
                <a:spcPct val="150000"/>
              </a:lnSpc>
              <a:buNone/>
            </a:pPr>
            <a:r>
              <a:rPr lang="en-US" altLang="en-US" sz="1200">
                <a:latin typeface="Times New Roman" panose="02020603050405020304" charset="0"/>
                <a:cs typeface="Times New Roman" panose="02020603050405020304" charset="0"/>
              </a:rPr>
              <a:t>[1] Farooq, M. S., Javid, R., Riaz, S., &amp; Atal, Z. — "IoT Based Smart Greenhouse Framework and Control Strategies for Sustainable Agriculture" — IEEE Access, Vol. 10, 2022.</a:t>
            </a:r>
            <a:endParaRPr lang="en-US" altLang="en-US" sz="1200">
              <a:latin typeface="Times New Roman" panose="02020603050405020304" charset="0"/>
              <a:cs typeface="Times New Roman" panose="02020603050405020304" charset="0"/>
            </a:endParaRPr>
          </a:p>
          <a:p>
            <a:pPr marL="0" indent="0">
              <a:lnSpc>
                <a:spcPct val="150000"/>
              </a:lnSpc>
              <a:buNone/>
            </a:pPr>
            <a:r>
              <a:rPr lang="en-US" altLang="en-US" sz="1200">
                <a:latin typeface="Times New Roman" panose="02020603050405020304" charset="0"/>
                <a:cs typeface="Times New Roman" panose="02020603050405020304" charset="0"/>
              </a:rPr>
              <a:t>[2] Benos, L., Tagarakis, A. C., &amp; Bochtis, D. — "Smart Farming Robot for Detecting Environmental Conditions in a Greenhouse" — IEEE Sensors Journal, 2023.</a:t>
            </a:r>
            <a:endParaRPr lang="en-US" altLang="en-US" sz="1200">
              <a:latin typeface="Times New Roman" panose="02020603050405020304" charset="0"/>
              <a:cs typeface="Times New Roman" panose="02020603050405020304" charset="0"/>
            </a:endParaRPr>
          </a:p>
          <a:p>
            <a:pPr marL="0" indent="0">
              <a:lnSpc>
                <a:spcPct val="150000"/>
              </a:lnSpc>
              <a:buNone/>
            </a:pPr>
            <a:r>
              <a:rPr lang="en-US" altLang="en-US" sz="1200">
                <a:latin typeface="Times New Roman" panose="02020603050405020304" charset="0"/>
                <a:cs typeface="Times New Roman" panose="02020603050405020304" charset="0"/>
              </a:rPr>
              <a:t>[3] Zhao, X., et al. — "Implementation of Large Language Models and Agricultural Knowledge Graphs for Efficient Plant Disease Detection" — Agriculture, MDPI, Vol. 14, No. 8, 2024.</a:t>
            </a:r>
            <a:endParaRPr lang="en-US" altLang="en-US" sz="1200">
              <a:latin typeface="Times New Roman" panose="02020603050405020304" charset="0"/>
              <a:cs typeface="Times New Roman" panose="02020603050405020304" charset="0"/>
            </a:endParaRPr>
          </a:p>
          <a:p>
            <a:pPr marL="0" indent="0">
              <a:lnSpc>
                <a:spcPct val="150000"/>
              </a:lnSpc>
              <a:buNone/>
            </a:pPr>
            <a:r>
              <a:rPr lang="en-US" altLang="en-US" sz="1200">
                <a:latin typeface="Times New Roman" panose="02020603050405020304" charset="0"/>
                <a:cs typeface="Times New Roman" panose="02020603050405020304" charset="0"/>
              </a:rPr>
              <a:t>[4] Yang, X., et al. — "PLLaMa: An Open-Source Large Language Model for Plant Science" — arXiv:2401.01600, 2024.</a:t>
            </a:r>
            <a:endParaRPr lang="en-US" altLang="en-US" sz="1200">
              <a:latin typeface="Times New Roman" panose="02020603050405020304" charset="0"/>
              <a:cs typeface="Times New Roman" panose="02020603050405020304" charset="0"/>
            </a:endParaRPr>
          </a:p>
          <a:p>
            <a:pPr marL="0" indent="0">
              <a:lnSpc>
                <a:spcPct val="150000"/>
              </a:lnSpc>
              <a:buNone/>
            </a:pPr>
            <a:r>
              <a:rPr lang="en-US" altLang="en-US" sz="1200">
                <a:latin typeface="Times New Roman" panose="02020603050405020304" charset="0"/>
                <a:cs typeface="Times New Roman" panose="02020603050405020304" charset="0"/>
              </a:rPr>
              <a:t>[5] Zhu, H., et al. — "Potato Disease Detection and Prevention Using Multimodal AI and Large Language Model" — Computers and Electronics in Agriculture, Elsevier, Vol. 229, 2025.</a:t>
            </a:r>
            <a:endParaRPr lang="en-US" altLang="en-US" sz="1200">
              <a:latin typeface="Times New Roman" panose="02020603050405020304" charset="0"/>
              <a:cs typeface="Times New Roman" panose="02020603050405020304" charset="0"/>
            </a:endParaRPr>
          </a:p>
          <a:p>
            <a:pPr marL="0" indent="0">
              <a:lnSpc>
                <a:spcPct val="150000"/>
              </a:lnSpc>
              <a:buNone/>
            </a:pPr>
            <a:r>
              <a:rPr lang="en-US" altLang="en-US" sz="1200">
                <a:latin typeface="Times New Roman" panose="02020603050405020304" charset="0"/>
                <a:cs typeface="Times New Roman" panose="02020603050405020304" charset="0"/>
              </a:rPr>
              <a:t>[6] Stella, F., Della Santina, C., &amp; Hughes, J. — "How Can LLMs Transform the Robotic Design Process?" — Nature Machine Intelligence, Vol. 5, 2023, pp. 561–564.</a:t>
            </a:r>
            <a:endParaRPr lang="en-US" altLang="en-US" sz="1200">
              <a:latin typeface="Times New Roman" panose="02020603050405020304" charset="0"/>
              <a:cs typeface="Times New Roman" panose="02020603050405020304" charset="0"/>
            </a:endParaRPr>
          </a:p>
          <a:p>
            <a:pPr marL="0" indent="0">
              <a:lnSpc>
                <a:spcPct val="150000"/>
              </a:lnSpc>
              <a:buNone/>
            </a:pPr>
            <a:r>
              <a:rPr lang="en-US" altLang="en-US" sz="1200">
                <a:latin typeface="Times New Roman" panose="02020603050405020304" charset="0"/>
                <a:cs typeface="Times New Roman" panose="02020603050405020304" charset="0"/>
              </a:rPr>
              <a:t>[7] Driess, D., et al. — "PaLM-E: An Embodied Multimodal Language Model" — Proceedings of ICML, Vol. 202, PMLR, 2023, pp. 8469–8488.</a:t>
            </a:r>
            <a:endParaRPr lang="en-US" altLang="en-US" sz="1200">
              <a:latin typeface="Times New Roman" panose="02020603050405020304" charset="0"/>
              <a:cs typeface="Times New Roman" panose="02020603050405020304" charset="0"/>
            </a:endParaRPr>
          </a:p>
          <a:p>
            <a:pPr marL="0" indent="0">
              <a:lnSpc>
                <a:spcPct val="150000"/>
              </a:lnSpc>
              <a:buNone/>
            </a:pPr>
            <a:r>
              <a:rPr lang="en-US" altLang="en-US" sz="1200">
                <a:latin typeface="Times New Roman" panose="02020603050405020304" charset="0"/>
                <a:cs typeface="Times New Roman" panose="02020603050405020304" charset="0"/>
              </a:rPr>
              <a:t>[8] Wake, N., et al. — "GPT-4V(ision) for Robotics: Multimodal Task Planning from Human Demonstration" — IEEE Robotics and Automation Letters, Vol. 9, No. 11, 2024, pp. 10567–10574.</a:t>
            </a:r>
            <a:endParaRPr lang="en-US" altLang="en-US" sz="1200">
              <a:latin typeface="Times New Roman" panose="02020603050405020304" charset="0"/>
              <a:cs typeface="Times New Roman" panose="02020603050405020304" charset="0"/>
            </a:endParaRPr>
          </a:p>
          <a:p>
            <a:pPr marL="0" indent="0">
              <a:lnSpc>
                <a:spcPct val="150000"/>
              </a:lnSpc>
              <a:buNone/>
            </a:pPr>
            <a:r>
              <a:rPr lang="en-US" altLang="en-US" sz="1200">
                <a:latin typeface="Times New Roman" panose="02020603050405020304" charset="0"/>
                <a:cs typeface="Times New Roman" panose="02020603050405020304" charset="0"/>
              </a:rPr>
              <a:t>[9] Shen, Y., et al. — "Large Language Models and Foundation Models in Smart Agriculture: Basics, Opportunities, and Challenges" — arXiv:2308.06668, 2024.</a:t>
            </a:r>
            <a:endParaRPr lang="en-US" altLang="en-US" sz="1200">
              <a:latin typeface="Times New Roman" panose="02020603050405020304" charset="0"/>
              <a:cs typeface="Times New Roman" panose="02020603050405020304" charset="0"/>
            </a:endParaRPr>
          </a:p>
          <a:p>
            <a:pPr marL="0" indent="0">
              <a:lnSpc>
                <a:spcPct val="150000"/>
              </a:lnSpc>
              <a:buNone/>
            </a:pPr>
            <a:r>
              <a:rPr lang="en-US" altLang="en-US" sz="1200">
                <a:latin typeface="Times New Roman" panose="02020603050405020304" charset="0"/>
                <a:cs typeface="Times New Roman" panose="02020603050405020304" charset="0"/>
              </a:rPr>
              <a:t>[10] Zhang, W., et al. — "Embodied Large Language Models Enable Robots to Complete Complex Tasks in Unpredictable Environments" — Nature Machine Intelligence, 2025.</a:t>
            </a:r>
            <a:endParaRPr lang="en-US" altLang="en-US" sz="1200">
              <a:latin typeface="Times New Roman" panose="02020603050405020304" charset="0"/>
              <a:cs typeface="Times New Roman" panose="02020603050405020304" charset="0"/>
            </a:endParaRPr>
          </a:p>
        </p:txBody>
      </p:sp>
      <p:sp>
        <p:nvSpPr>
          <p:cNvPr id="3" name="Text Box 2"/>
          <p:cNvSpPr txBox="1"/>
          <p:nvPr/>
        </p:nvSpPr>
        <p:spPr>
          <a:xfrm>
            <a:off x="3581400" y="304800"/>
            <a:ext cx="3048000" cy="460375"/>
          </a:xfrm>
          <a:prstGeom prst="rect">
            <a:avLst/>
          </a:prstGeom>
          <a:noFill/>
        </p:spPr>
        <p:txBody>
          <a:bodyPr wrap="square" rtlCol="0">
            <a:spAutoFit/>
          </a:bodyPr>
          <a:p>
            <a:r>
              <a:rPr lang="en-IN" sz="2400" b="1" dirty="0">
                <a:solidFill>
                  <a:srgbClr val="000000"/>
                </a:solidFill>
                <a:latin typeface="Times New Roman" panose="02020603050405020304" charset="0"/>
                <a:cs typeface="Times New Roman" panose="02020603050405020304" charset="0"/>
                <a:sym typeface="+mn-ea"/>
              </a:rPr>
              <a:t>References</a:t>
            </a:r>
            <a:endParaRPr lang="en-IN" sz="2400" b="1" dirty="0">
              <a:solidFill>
                <a:srgbClr val="000000"/>
              </a:solidFill>
              <a:latin typeface="Times New Roman" panose="02020603050405020304" charset="0"/>
              <a:cs typeface="Times New Roman" panose="02020603050405020304" charset="0"/>
              <a:sym typeface="+mn-ea"/>
            </a:endParaRPr>
          </a:p>
        </p:txBody>
      </p:sp>
    </p:spTree>
  </p:cSld>
  <p:clrMapOvr>
    <a:masterClrMapping/>
  </p:clrMapOvr>
</p:sld>
</file>

<file path=ppt/tags/tag1.xml><?xml version="1.0" encoding="utf-8"?>
<p:tagLst xmlns:p="http://schemas.openxmlformats.org/presentationml/2006/main">
  <p:tag name="TABLE_ENDDRAG_ORIGIN_RECT" val="648*403"/>
  <p:tag name="TABLE_ENDDRAG_RECT" val="36*81*648*40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5090</Words>
  <Application>WPS Presentation</Application>
  <PresentationFormat>On-screen Show (4:3)</PresentationFormat>
  <Paragraphs>113</Paragraphs>
  <Slides>6</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Times New Roman</vt:lpstr>
      <vt:lpstr>Trebuchet MS</vt:lpstr>
      <vt:lpstr>Microsoft YaHei</vt:lpstr>
      <vt:lpstr>Arial Unicode MS</vt:lpstr>
      <vt:lpstr>Calibri</vt:lpstr>
      <vt:lpstr>Office Theme</vt:lpstr>
      <vt:lpstr>MTech in Information Technology Review-1 Major Project (MIT491P)  LLM-Driven Embodied Robot Agent with Multimodal Perception and Hardware-Aware Action Generation </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MTech in Software Engineering/Information technology  Internship title</dc:title>
  <dc:creator>MAMATHA</dc:creator>
  <cp:lastModifiedBy>sudarshan acharya</cp:lastModifiedBy>
  <cp:revision>21</cp:revision>
  <dcterms:created xsi:type="dcterms:W3CDTF">2006-08-16T00:00:00Z</dcterms:created>
  <dcterms:modified xsi:type="dcterms:W3CDTF">2026-03-18T08:29:56Z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E35886E64D9C421C98633A5683271B06_13</vt:lpwstr>
  </property>
  <property fmtid="{D5CDD505-2E9C-101B-9397-08002B2CF9AE}" pid="3" name="KSOProductBuildVer">
    <vt:lpwstr>1033-12.2.0.23197</vt:lpwstr>
  </property>
</Properties>
</file>